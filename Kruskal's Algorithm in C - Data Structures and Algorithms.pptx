
<file path=[Content_Types].xml><?xml version="1.0" encoding="utf-8"?>
<ns0:Types xmlns:ns0="http://schemas.openxmlformats.org/package/2006/content-types">
  <ns0:Default Extension="bin" ContentType="application/vnd.openxmlformats-officedocument.presentationml.printerSettings"/>
  <ns0:Default Extension="jpeg" ContentType="image/jpeg"/>
  <ns0:Default Extension="png" ContentType="image/png"/>
  <ns0:Default Extension="rels" ContentType="application/vnd.openxmlformats-package.relationships+xml"/>
  <ns0:Default Extension="xml" ContentType="application/xml"/>
  <ns0:Override PartName="/docProps/app.xml" ContentType="application/vnd.openxmlformats-officedocument.extended-properties+xml"/>
  <ns0:Override PartName="/docProps/core.xml" ContentType="application/vnd.openxmlformats-package.core-properties+xml"/>
  <ns0:Override PartName="/ppt/presProps.xml" ContentType="application/vnd.openxmlformats-officedocument.presentationml.presProps+xml"/>
  <ns0:Override PartName="/ppt/presentation.xml" ContentType="application/vnd.openxmlformats-officedocument.presentationml.presentation.main+xml"/>
  <ns0:Override PartName="/ppt/slideLayouts/slideLayout1.xml" ContentType="application/vnd.openxmlformats-officedocument.presentationml.slideLayout+xml"/>
  <ns0:Override PartName="/ppt/slideLayouts/slideLayout10.xml" ContentType="application/vnd.openxmlformats-officedocument.presentationml.slideLayout+xml"/>
  <ns0:Override PartName="/ppt/slideLayouts/slideLayout11.xml" ContentType="application/vnd.openxmlformats-officedocument.presentationml.slideLayout+xml"/>
  <ns0:Override PartName="/ppt/slideLayouts/slideLayout2.xml" ContentType="application/vnd.openxmlformats-officedocument.presentationml.slideLayout+xml"/>
  <ns0:Override PartName="/ppt/slideLayouts/slideLayout3.xml" ContentType="application/vnd.openxmlformats-officedocument.presentationml.slideLayout+xml"/>
  <ns0:Override PartName="/ppt/slideLayouts/slideLayout4.xml" ContentType="application/vnd.openxmlformats-officedocument.presentationml.slideLayout+xml"/>
  <ns0:Override PartName="/ppt/slideLayouts/slideLayout5.xml" ContentType="application/vnd.openxmlformats-officedocument.presentationml.slideLayout+xml"/>
  <ns0:Override PartName="/ppt/slideLayouts/slideLayout6.xml" ContentType="application/vnd.openxmlformats-officedocument.presentationml.slideLayout+xml"/>
  <ns0:Override PartName="/ppt/slideLayouts/slideLayout7.xml" ContentType="application/vnd.openxmlformats-officedocument.presentationml.slideLayout+xml"/>
  <ns0:Override PartName="/ppt/slideLayouts/slideLayout8.xml" ContentType="application/vnd.openxmlformats-officedocument.presentationml.slideLayout+xml"/>
  <ns0:Override PartName="/ppt/slideLayouts/slideLayout9.xml" ContentType="application/vnd.openxmlformats-officedocument.presentationml.slideLayout+xml"/>
  <ns0:Override PartName="/ppt/slideMasters/slideMaster1.xml" ContentType="application/vnd.openxmlformats-officedocument.presentationml.slideMaster+xml"/>
  <ns0:Override PartName="/ppt/slides/slide1.xml" ContentType="application/vnd.openxmlformats-officedocument.presentationml.slide+xml"/>
  <ns0:Override PartName="/ppt/slides/slide10.xml" ContentType="application/vnd.openxmlformats-officedocument.presentationml.slide+xml"/>
  <ns0:Override PartName="/ppt/slides/slide2.xml" ContentType="application/vnd.openxmlformats-officedocument.presentationml.slide+xml"/>
  <ns0:Override PartName="/ppt/slides/slide3.xml" ContentType="application/vnd.openxmlformats-officedocument.presentationml.slide+xml"/>
  <ns0:Override PartName="/ppt/slides/slide4.xml" ContentType="application/vnd.openxmlformats-officedocument.presentationml.slide+xml"/>
  <ns0:Override PartName="/ppt/slides/slide5.xml" ContentType="application/vnd.openxmlformats-officedocument.presentationml.slide+xml"/>
  <ns0:Override PartName="/ppt/slides/slide6.xml" ContentType="application/vnd.openxmlformats-officedocument.presentationml.slide+xml"/>
  <ns0:Override PartName="/ppt/slides/slide7.xml" ContentType="application/vnd.openxmlformats-officedocument.presentationml.slide+xml"/>
  <ns0:Override PartName="/ppt/slides/slide8.xml" ContentType="application/vnd.openxmlformats-officedocument.presentationml.slide+xml"/>
  <ns0:Override PartName="/ppt/slides/slide9.xml" ContentType="application/vnd.openxmlformats-officedocument.presentationml.slide+xml"/>
  <ns0:Override PartName="/ppt/tableStyles.xml" ContentType="application/vnd.openxmlformats-officedocument.presentationml.tableStyles+xml"/>
  <ns0:Override PartName="/ppt/theme/theme1.xml" ContentType="application/vnd.openxmlformats-officedocument.theme+xml"/>
  <ns0:Override PartName="/ppt/viewProps.xml" ContentType="application/vnd.openxmlformats-officedocument.presentationml.viewProps+xml"/>
  <ns0:Default Extension="fntdata" ContentType="application/x-fontdata"/>
</ns0: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ns0:presentation xmlns:ns0="http://schemas.openxmlformats.org/presentationml/2006/main" xmlns:ns1="http://schemas.openxmlformats.org/officeDocument/2006/relationships" xmlns:ns2="http://schemas.openxmlformats.org/drawingml/2006/main" saveSubsetFonts="1" autoCompressPictures="0" embedTrueTypeFonts="1">
  <ns0:sldMasterIdLst>
    <ns0:sldMasterId id="2147483648" ns1:id="rId1"/>
  </ns0:sldMasterIdLst>
  <ns0:sldIdLst>
    <ns0:sldId id="256" ns1:id="rId7"/>
    <ns0:sldId id="257" ns1:id="rId8"/>
    <ns0:sldId id="258" ns1:id="rId9"/>
    <ns0:sldId id="259" ns1:id="rId10"/>
    <ns0:sldId id="260" ns1:id="rId11"/>
    <ns0:sldId id="261" ns1:id="rId12"/>
    <ns0:sldId id="262" ns1:id="rId13"/>
    <ns0:sldId id="263" ns1:id="rId14"/>
    <ns0:sldId id="264" ns1:id="rId15"/>
    <ns0:sldId id="265" ns1:id="rId16"/>
  </ns0:sldIdLst>
  <ns0:sldSz cx="12192000" cy="6858000" type="screen4x3"/>
  <ns0:notesSz cx="6858000" cy="9144000"/>
  <ns0:embeddedFontLst>
    <ns0:embeddedFont>
      <ns0:font typeface="Plus Jakarta Sans"/>
      <ns0:italic ns1:id="rIdFont17"/>
      <ns0:bold ns1:id="rIdFont18"/>
      <ns0:regular ns1:id="rIdFont19"/>
    </ns0:embeddedFont>
    <ns0:embeddedFont>
      <ns0:font typeface="Fira Code"/>
      <ns0:regular ns1:id="rIdFont20"/>
    </ns0:embeddedFont>
  </ns0:embeddedFontLst>
  <ns0:defaultTextStyle>
    <ns2:defPPr>
      <ns2:defRPr lang="en-US"/>
    </ns2:defPPr>
    <ns2:lvl1pPr marL="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1pPr>
    <ns2:lvl2pPr marL="4572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2pPr>
    <ns2:lvl3pPr marL="9144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3pPr>
    <ns2:lvl4pPr marL="13716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4pPr>
    <ns2:lvl5pPr marL="18288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5pPr>
    <ns2:lvl6pPr marL="22860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6pPr>
    <ns2:lvl7pPr marL="27432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7pPr>
    <ns2:lvl8pPr marL="32004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8pPr>
    <ns2:lvl9pPr marL="36576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9pPr>
  </ns0:defaultTextStyle>
</ns0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?>
<ns0:Relationships xmlns:ns0="http://schemas.openxmlformats.org/package/2006/relationships"><ns0:Relationship Id="rId1" Type="http://schemas.openxmlformats.org/officeDocument/2006/relationships/slideMaster" Target="slideMasters/slideMaster1.xml" /><ns0:Relationship Id="rId2" Type="http://schemas.openxmlformats.org/officeDocument/2006/relationships/printerSettings" Target="printerSettings/printerSettings1.bin" /><ns0:Relationship Id="rId3" Type="http://schemas.openxmlformats.org/officeDocument/2006/relationships/presProps" Target="presProps.xml" /><ns0:Relationship Id="rId4" Type="http://schemas.openxmlformats.org/officeDocument/2006/relationships/viewProps" Target="viewProps.xml" /><ns0:Relationship Id="rId5" Type="http://schemas.openxmlformats.org/officeDocument/2006/relationships/theme" Target="theme/theme1.xml" /><ns0:Relationship Id="rId6" Type="http://schemas.openxmlformats.org/officeDocument/2006/relationships/tableStyles" Target="tableStyles.xml" /><ns0:Relationship Id="rId7" Type="http://schemas.openxmlformats.org/officeDocument/2006/relationships/slide" Target="slides/slide1.xml" /><ns0:Relationship Id="rId8" Type="http://schemas.openxmlformats.org/officeDocument/2006/relationships/slide" Target="slides/slide2.xml" /><ns0:Relationship Id="rId9" Type="http://schemas.openxmlformats.org/officeDocument/2006/relationships/slide" Target="slides/slide3.xml" /><ns0:Relationship Id="rId10" Type="http://schemas.openxmlformats.org/officeDocument/2006/relationships/slide" Target="slides/slide4.xml" /><ns0:Relationship Id="rId11" Type="http://schemas.openxmlformats.org/officeDocument/2006/relationships/slide" Target="slides/slide5.xml" /><ns0:Relationship Id="rId12" Type="http://schemas.openxmlformats.org/officeDocument/2006/relationships/slide" Target="slides/slide6.xml" /><ns0:Relationship Id="rId13" Type="http://schemas.openxmlformats.org/officeDocument/2006/relationships/slide" Target="slides/slide7.xml" /><ns0:Relationship Id="rId14" Type="http://schemas.openxmlformats.org/officeDocument/2006/relationships/slide" Target="slides/slide8.xml" /><ns0:Relationship Id="rId15" Type="http://schemas.openxmlformats.org/officeDocument/2006/relationships/slide" Target="slides/slide9.xml" /><ns0:Relationship Id="rId16" Type="http://schemas.openxmlformats.org/officeDocument/2006/relationships/slide" Target="slides/slide10.xml" /><ns0:Relationship Id="rIdFont17" Type="http://schemas.openxmlformats.org/officeDocument/2006/relationships/font" Target="fonts/e31e9092-7f22-4fe9-9019-24b43a519e1b.fntdata" /><ns0:Relationship Id="rIdFont18" Type="http://schemas.openxmlformats.org/officeDocument/2006/relationships/font" Target="fonts/c8677d58-f2a6-424a-bf98-59799cc452c4.fntdata" /><ns0:Relationship Id="rIdFont19" Type="http://schemas.openxmlformats.org/officeDocument/2006/relationships/font" Target="fonts/484fe08a-cd07-4ac8-9e5b-9ec6c2e759c0.fntdata" /><ns0:Relationship Id="rIdFont20" Type="http://schemas.openxmlformats.org/officeDocument/2006/relationships/font" Target="fonts/dd9d8f4d-0c62-4a3f-a2fd-5b3c336d93da.fntdata" /></ns0: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7193B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762000" y="4270920"/>
            <a:ext cx="7620000" cy="600075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2000" y="1986855"/>
            <a:ext cx="1466850" cy="285750"/>
          </a:xfrm>
          <a:prstGeom prst="roundRect">
            <a:avLst>
              <a:gd name="adj" fmla="val 50000"/>
            </a:avLst>
          </a:prstGeom>
          <a:solidFill>
            <a:srgbClr val="636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62000" y="4270920"/>
            <a:ext cx="7620000" cy="9525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62000" y="2501205"/>
            <a:ext cx="11251406" cy="56956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4484"/>
              </a:lnSpc>
            </a:pPr>
            <a:r>
              <a:rPr b="1" sz="3900" i="0" u="none">
                <a:solidFill>
                  <a:srgbClr val="FFFFFF"/>
                </a:solidFill>
                <a:latin typeface="Plus Jakarta Sans"/>
              </a:rPr>
              <a:t>Kruskal's Algorithm in C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2000" y="3261270"/>
            <a:ext cx="7715250" cy="6286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475"/>
              </a:lnSpc>
            </a:pPr>
            <a:r>
              <a:rPr b="0" sz="1650" i="0" u="none">
                <a:solidFill>
                  <a:srgbClr val="CBD5E1"/>
                </a:solidFill>
                <a:latin typeface="Plus Jakarta Sans"/>
              </a:rPr>
              <a:t>Minimum Spanning Tree Construction via Greedy Edge Selection &amp; Disjoint-Set Union (DSU)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044005"/>
            <a:ext cx="1257300" cy="1714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FFFFFF"/>
                </a:solidFill>
                <a:latin typeface="Plus Jakarta Sans"/>
              </a:rPr>
              <a:t>DSA IN C SERIES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343150" y="2044005"/>
            <a:ext cx="1702593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94A3B8"/>
                </a:solidFill>
                <a:latin typeface="Plus Jakarta Sans"/>
              </a:rPr>
              <a:t>GRAPH ALGORITHMS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62000" y="4547145"/>
            <a:ext cx="4191000" cy="1428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900" i="0" u="none">
                <a:solidFill>
                  <a:srgbClr val="818CF8"/>
                </a:solidFill>
                <a:latin typeface="Plus Jakarta Sans"/>
              </a:rPr>
              <a:t>TOPIC FOCUS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62000" y="4690020"/>
            <a:ext cx="4191000" cy="1809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125" i="0" u="none">
                <a:solidFill>
                  <a:srgbClr val="F8FAFC"/>
                </a:solidFill>
                <a:latin typeface="Plus Jakarta Sans"/>
              </a:rPr>
              <a:t>Standard C Implementation &amp; DSU Optimization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19600" y="4547145"/>
            <a:ext cx="2714625" cy="1428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900" i="0" u="none">
                <a:solidFill>
                  <a:srgbClr val="818CF8"/>
                </a:solidFill>
                <a:latin typeface="Plus Jakarta Sans"/>
              </a:rPr>
              <a:t>COMPLEXITY TARGET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19600" y="4690020"/>
            <a:ext cx="2714625" cy="1809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125" i="0" u="none">
                <a:solidFill>
                  <a:srgbClr val="F8FAFC"/>
                </a:solidFill>
                <a:latin typeface="Plus Jakarta Sans"/>
              </a:rPr>
              <a:t>O(E log E) Time | O(V + E) Space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981700" y="2652712"/>
            <a:ext cx="5600700" cy="2352675"/>
          </a:xfrm>
          <a:prstGeom prst="roundRect">
            <a:avLst>
              <a:gd name="adj" fmla="val 4858"/>
            </a:avLst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09600" y="2190750"/>
            <a:ext cx="5067300" cy="1057275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9600" y="3400425"/>
            <a:ext cx="5067300" cy="85725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09600" y="4410075"/>
            <a:ext cx="5067300" cy="1057275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09600" y="2190750"/>
            <a:ext cx="38100" cy="1057275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09600" y="3400425"/>
            <a:ext cx="38100" cy="857250"/>
          </a:xfrm>
          <a:prstGeom prst="rect">
            <a:avLst/>
          </a:prstGeom>
          <a:solidFill>
            <a:srgbClr val="06B6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09600" y="4410075"/>
            <a:ext cx="38100" cy="1057275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09600" y="457200"/>
            <a:ext cx="11582400" cy="152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975" i="0" u="none">
                <a:solidFill>
                  <a:srgbClr val="4F46E5"/>
                </a:solidFill>
                <a:latin typeface="Plus Jakarta Sans"/>
              </a:rPr>
              <a:t>01. PROBLEM DEFINITION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09600" y="647700"/>
            <a:ext cx="11582400" cy="3810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400" i="0" u="none">
                <a:solidFill>
                  <a:srgbClr val="0F172A"/>
                </a:solidFill>
                <a:latin typeface="Plus Jakarta Sans"/>
              </a:rPr>
              <a:t>The Minimum Spanning Tree (MST) Problem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48400" y="2919412"/>
            <a:ext cx="5943600" cy="152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975" i="0" u="none">
                <a:solidFill>
                  <a:srgbClr val="818CF8"/>
                </a:solidFill>
                <a:latin typeface="Plus Jakarta Sans"/>
              </a:rPr>
              <a:t>GRAPH CONSTRAINTS &amp; FORMULATION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38200" y="2381250"/>
            <a:ext cx="6100762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1E293B"/>
                </a:solidFill>
                <a:latin typeface="Plus Jakarta Sans"/>
              </a:rPr>
              <a:t>Spanning Tree Property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38200" y="2657475"/>
            <a:ext cx="474345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b="0" sz="1125" i="0" u="none">
                <a:solidFill>
                  <a:srgbClr val="475569"/>
                </a:solidFill>
                <a:latin typeface="Plus Jakarta Sans"/>
              </a:rPr>
              <a:t>A subgraph connecting all </a:t>
            </a:r>
            <a:r>
              <a:rPr b="1" sz="1125" i="0" u="none">
                <a:solidFill>
                  <a:srgbClr val="475569"/>
                </a:solidFill>
                <a:latin typeface="Plus Jakarta Sans"/>
              </a:rPr>
              <a:t>V</a:t>
            </a:r>
            <a:r>
              <a:rPr b="0" sz="1125" i="0" u="none">
                <a:solidFill>
                  <a:srgbClr val="475569"/>
                </a:solidFill>
                <a:latin typeface="Plus Jakarta Sans"/>
              </a:rPr>
              <a:t> vertices using exactly </a:t>
            </a:r>
            <a:r>
              <a:rPr b="1" sz="1125" i="0" u="none">
                <a:solidFill>
                  <a:srgbClr val="475569"/>
                </a:solidFill>
                <a:latin typeface="Plus Jakarta Sans"/>
              </a:rPr>
              <a:t>V - 1</a:t>
            </a:r>
            <a:r>
              <a:rPr b="0" sz="1125" i="0" u="none">
                <a:solidFill>
                  <a:srgbClr val="475569"/>
                </a:solidFill>
                <a:latin typeface="Plus Jakarta Sans"/>
              </a:rPr>
              <a:t> edges without forming cycles.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8200" y="3590925"/>
            <a:ext cx="6100762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1E293B"/>
                </a:solidFill>
                <a:latin typeface="Plus Jakarta Sans"/>
              </a:rPr>
              <a:t>Minimization Objective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8200" y="3867150"/>
            <a:ext cx="5810250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b="0" sz="1125" i="0" u="none">
                <a:solidFill>
                  <a:srgbClr val="475569"/>
                </a:solidFill>
                <a:latin typeface="Plus Jakarta Sans"/>
              </a:rPr>
              <a:t>Find a spanning tree with the </a:t>
            </a:r>
            <a:r>
              <a:rPr b="1" sz="1125" i="0" u="none">
                <a:solidFill>
                  <a:srgbClr val="475569"/>
                </a:solidFill>
                <a:latin typeface="Plus Jakarta Sans"/>
              </a:rPr>
              <a:t>minimum total edge weight</a:t>
            </a:r>
            <a:r>
              <a:rPr b="0" sz="1125" i="0" u="none">
                <a:solidFill>
                  <a:srgbClr val="475569"/>
                </a:solidFill>
                <a:latin typeface="Plus Jakarta Sans"/>
              </a:rPr>
              <a:t> sum.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8200" y="4600575"/>
            <a:ext cx="6100762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1E293B"/>
                </a:solidFill>
                <a:latin typeface="Plus Jakarta Sans"/>
              </a:rPr>
              <a:t>Real-World Application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8200" y="4876800"/>
            <a:ext cx="474345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b="0" sz="1125" i="0" u="none">
                <a:solidFill>
                  <a:srgbClr val="475569"/>
                </a:solidFill>
                <a:latin typeface="Plus Jakarta Sans"/>
              </a:rPr>
              <a:t>Network wiring, transportation routes, and cluster analysis layout minimization.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48400" y="3224212"/>
            <a:ext cx="1133475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200" i="0" u="none">
                <a:solidFill>
                  <a:srgbClr val="94A3B8"/>
                </a:solidFill>
                <a:latin typeface="Plus Jakarta Sans"/>
              </a:rPr>
              <a:t>Input Graph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48650" y="3224212"/>
            <a:ext cx="3833812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200" i="0" u="none">
                <a:solidFill>
                  <a:srgbClr val="F8FAFC"/>
                </a:solidFill>
                <a:latin typeface="Plus Jakarta Sans"/>
              </a:rPr>
              <a:t>Undirected, Weighted, Connected G(V, E)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248400" y="3662362"/>
            <a:ext cx="1314450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200" i="0" u="none">
                <a:solidFill>
                  <a:srgbClr val="94A3B8"/>
                </a:solidFill>
                <a:latin typeface="Plus Jakarta Sans"/>
              </a:rPr>
              <a:t>Edge Weights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724900" y="3662362"/>
            <a:ext cx="3238500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200" i="0" u="none">
                <a:solidFill>
                  <a:srgbClr val="F8FAFC"/>
                </a:solidFill>
                <a:latin typeface="Plus Jakarta Sans"/>
              </a:rPr>
              <a:t>Real numbers (Positive or Negative)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248400" y="4100512"/>
            <a:ext cx="1690687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200" i="0" u="none">
                <a:solidFill>
                  <a:srgbClr val="94A3B8"/>
                </a:solidFill>
                <a:latin typeface="Plus Jakarta Sans"/>
              </a:rPr>
              <a:t>Output MST Edges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163175" y="4100512"/>
            <a:ext cx="1440656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200" i="0" u="none">
                <a:solidFill>
                  <a:srgbClr val="38BDF8"/>
                </a:solidFill>
                <a:latin typeface="Plus Jakarta Sans"/>
              </a:rPr>
              <a:t>|T| = V - 1 edges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248400" y="4538662"/>
            <a:ext cx="1488281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200" i="0" u="none">
                <a:solidFill>
                  <a:srgbClr val="94A3B8"/>
                </a:solidFill>
                <a:latin typeface="Plus Jakarta Sans"/>
              </a:rPr>
              <a:t>Cycle Condition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686925" y="4538662"/>
            <a:ext cx="2035968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200" i="0" u="none">
                <a:solidFill>
                  <a:srgbClr val="F43F5E"/>
                </a:solidFill>
                <a:latin typeface="Plus Jakarta Sans"/>
              </a:rPr>
              <a:t>Zero cycles permitted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09600" y="1257300"/>
            <a:ext cx="3505200" cy="5143500"/>
          </a:xfrm>
          <a:prstGeom prst="roundRect">
            <a:avLst>
              <a:gd name="adj" fmla="val 3260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343400" y="1257300"/>
            <a:ext cx="3505200" cy="5143500"/>
          </a:xfrm>
          <a:prstGeom prst="roundRect">
            <a:avLst>
              <a:gd name="adj" fmla="val 3260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8077200" y="1257300"/>
            <a:ext cx="3505200" cy="5143500"/>
          </a:xfrm>
          <a:prstGeom prst="roundRect">
            <a:avLst>
              <a:gd name="adj" fmla="val 3260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876300" y="3083718"/>
            <a:ext cx="381000" cy="381000"/>
          </a:xfrm>
          <a:prstGeom prst="roundRect">
            <a:avLst>
              <a:gd name="adj" fmla="val 20000"/>
            </a:avLst>
          </a:prstGeom>
          <a:solidFill>
            <a:srgbClr val="E0E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4610100" y="3083718"/>
            <a:ext cx="381000" cy="381000"/>
          </a:xfrm>
          <a:prstGeom prst="roundRect">
            <a:avLst>
              <a:gd name="adj" fmla="val 20000"/>
            </a:avLst>
          </a:prstGeom>
          <a:solidFill>
            <a:srgbClr val="E0E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8343900" y="3083718"/>
            <a:ext cx="381000" cy="381000"/>
          </a:xfrm>
          <a:prstGeom prst="roundRect">
            <a:avLst>
              <a:gd name="adj" fmla="val 20000"/>
            </a:avLst>
          </a:prstGeom>
          <a:solidFill>
            <a:srgbClr val="E0E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09600" y="457200"/>
            <a:ext cx="11582400" cy="152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975" i="0" u="none">
                <a:solidFill>
                  <a:srgbClr val="4F46E5"/>
                </a:solidFill>
                <a:latin typeface="Plus Jakarta Sans"/>
              </a:rPr>
              <a:t>02. ALGORITHM CORE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9600" y="647700"/>
            <a:ext cx="11582400" cy="3810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400" i="0" u="none">
                <a:solidFill>
                  <a:srgbClr val="0F172A"/>
                </a:solidFill>
                <a:latin typeface="Plus Jakarta Sans"/>
              </a:rPr>
              <a:t>Kruskal's Greedy Strategy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3425" y="3083718"/>
            <a:ext cx="666750" cy="381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b="1" sz="1200" i="0" u="none">
                <a:solidFill>
                  <a:srgbClr val="4F46E5"/>
                </a:solidFill>
                <a:latin typeface="Plus Jakarta Sans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76300" y="3617118"/>
            <a:ext cx="3900487" cy="2381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0F172A"/>
                </a:solidFill>
                <a:latin typeface="Plus Jakarta Sans"/>
              </a:rPr>
              <a:t>Global Edge Sorting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76300" y="3931443"/>
            <a:ext cx="3067050" cy="64293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87"/>
              </a:lnSpc>
            </a:pPr>
            <a:r>
              <a:rPr b="0" sz="1125" i="0" u="none">
                <a:solidFill>
                  <a:srgbClr val="475569"/>
                </a:solidFill>
                <a:latin typeface="Plus Jakarta Sans"/>
              </a:rPr>
              <a:t>Sort all graph edges in non-decreasing order of weight. Process light edges first regardless of vertex location.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67225" y="3083718"/>
            <a:ext cx="666750" cy="381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b="1" sz="1200" i="0" u="none">
                <a:solidFill>
                  <a:srgbClr val="4F46E5"/>
                </a:solidFill>
                <a:latin typeface="Plus Jakarta Sans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10100" y="3617118"/>
            <a:ext cx="3900487" cy="2381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0F172A"/>
                </a:solidFill>
                <a:latin typeface="Plus Jakarta Sans"/>
              </a:rPr>
              <a:t>Cycle Detection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10100" y="3931443"/>
            <a:ext cx="3067050" cy="64293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87"/>
              </a:lnSpc>
            </a:pPr>
            <a:r>
              <a:rPr b="0" sz="1125" i="0" u="none">
                <a:solidFill>
                  <a:srgbClr val="475569"/>
                </a:solidFill>
                <a:latin typeface="Plus Jakarta Sans"/>
              </a:rPr>
              <a:t>Iterate through sorted edges. Add edge (u, v) to MST if u and v belong to separate connected components.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01025" y="3083718"/>
            <a:ext cx="666750" cy="381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b="1" sz="1200" i="0" u="none">
                <a:solidFill>
                  <a:srgbClr val="4F46E5"/>
                </a:solidFill>
                <a:latin typeface="Plus Jakarta Sans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43900" y="3617118"/>
            <a:ext cx="3848100" cy="2381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0F172A"/>
                </a:solidFill>
                <a:latin typeface="Plus Jakarta Sans"/>
              </a:rPr>
              <a:t>Component Union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43900" y="3931443"/>
            <a:ext cx="3067050" cy="64293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87"/>
              </a:lnSpc>
            </a:pPr>
            <a:r>
              <a:rPr b="0" sz="1125" i="0" u="none">
                <a:solidFill>
                  <a:srgbClr val="475569"/>
                </a:solidFill>
                <a:latin typeface="Plus Jakarta Sans"/>
              </a:rPr>
              <a:t>Merge the disjoint sets containing u and v upon edge insertion. Stop when MST contains V - 1 edges.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09600" y="2004566"/>
            <a:ext cx="5600700" cy="3610719"/>
          </a:xfrm>
          <a:prstGeom prst="roundRect">
            <a:avLst>
              <a:gd name="adj" fmla="val 3165"/>
            </a:avLst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438900" y="2724150"/>
            <a:ext cx="5143500" cy="1000125"/>
          </a:xfrm>
          <a:prstGeom prst="roundRect">
            <a:avLst>
              <a:gd name="adj" fmla="val 7619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438900" y="3876675"/>
            <a:ext cx="5143500" cy="1019175"/>
          </a:xfrm>
          <a:prstGeom prst="roundRect">
            <a:avLst>
              <a:gd name="adj" fmla="val 7476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9600" y="457200"/>
            <a:ext cx="11582400" cy="152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975" i="0" u="none">
                <a:solidFill>
                  <a:srgbClr val="4F46E5"/>
                </a:solidFill>
                <a:latin typeface="Plus Jakarta Sans"/>
              </a:rPr>
              <a:t>03. C DATA STRUCTURES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09600" y="647700"/>
            <a:ext cx="11582400" cy="3810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400" i="0" u="none">
                <a:solidFill>
                  <a:srgbClr val="0F172A"/>
                </a:solidFill>
                <a:latin typeface="Plus Jakarta Sans"/>
              </a:rPr>
              <a:t>Representing Edges and Disjoint Sets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8200" y="2233166"/>
            <a:ext cx="5238750" cy="315351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F8FAFC"/>
                </a:solidFill>
                <a:latin typeface="Plus Jakarta Sans"/>
              </a:rPr>
              <a:t>// Edge structure for graph array typedef struct { int src; int dest; int weight; } Edge; // Disjoint-Set Union (DSU) structure typedef struct { int *parent; int *rank; int n; } DSU;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38200" y="2233166"/>
            <a:ext cx="6429375" cy="1428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900" i="0" u="none">
                <a:solidFill>
                  <a:srgbClr val="38BDF8"/>
                </a:solidFill>
                <a:latin typeface="Plus Jakarta Sans"/>
              </a:rPr>
              <a:t>CODE SNIPPET 1: STRUCT DEFINITIONS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38200" y="2490341"/>
            <a:ext cx="5238750" cy="28963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050" i="0" u="none">
                <a:solidFill>
                  <a:srgbClr val="F8FAFC"/>
                </a:solidFill>
                <a:latin typeface="Fira Code"/>
              </a:rPr>
              <a:t>// Edge structure for graph array typedef struct { int src; int dest; int weight; } Edge; // Disjoint-Set Union (DSU) structure typedef struct { int *parent; int *rank; int n; } DSU;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638925" y="2924175"/>
            <a:ext cx="5553075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200" i="0" u="none">
                <a:solidFill>
                  <a:srgbClr val="0F172A"/>
                </a:solidFill>
                <a:latin typeface="Plus Jakarta Sans"/>
              </a:rPr>
              <a:t>Edge List vs Adjacency Matrix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638925" y="3181350"/>
            <a:ext cx="48387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050" i="0" u="none">
                <a:solidFill>
                  <a:srgbClr val="475569"/>
                </a:solidFill>
                <a:latin typeface="Plus Jakarta Sans"/>
              </a:rPr>
              <a:t>Kruskal's operates directly on a flat Edge array. No adjacency list or matrix overhead required.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638925" y="4076700"/>
            <a:ext cx="5553075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200" i="0" u="none">
                <a:solidFill>
                  <a:srgbClr val="0F172A"/>
                </a:solidFill>
                <a:latin typeface="Plus Jakarta Sans"/>
              </a:rPr>
              <a:t>Dynamic Arrays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638925" y="4333875"/>
            <a:ext cx="4838700" cy="361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050" i="0" u="none">
                <a:solidFill>
                  <a:srgbClr val="475569"/>
                </a:solidFill>
                <a:latin typeface="Plus Jakarta Sans"/>
              </a:rPr>
              <a:t>Pointers for </a:t>
            </a:r>
            <a:r>
              <a:rPr b="0" sz="1050" i="0" u="none">
                <a:solidFill>
                  <a:srgbClr val="475569"/>
                </a:solidFill>
                <a:latin typeface="Plus Jakarta Sans"/>
              </a:rPr>
              <a:t>parent</a:t>
            </a:r>
            <a:r>
              <a:rPr b="0" sz="1050" i="0" u="none">
                <a:solidFill>
                  <a:srgbClr val="475569"/>
                </a:solidFill>
                <a:latin typeface="Plus Jakarta Sans"/>
              </a:rPr>
              <a:t> and </a:t>
            </a:r>
            <a:r>
              <a:rPr b="0" sz="1050" i="0" u="none">
                <a:solidFill>
                  <a:srgbClr val="475569"/>
                </a:solidFill>
                <a:latin typeface="Plus Jakarta Sans"/>
              </a:rPr>
              <a:t>rank</a:t>
            </a:r>
            <a:r>
              <a:rPr b="0" sz="1050" i="0" u="none">
                <a:solidFill>
                  <a:srgbClr val="475569"/>
                </a:solidFill>
                <a:latin typeface="Plus Jakarta Sans"/>
              </a:rPr>
              <a:t> enable runtime allocation based on vertex count V.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09600" y="1619250"/>
            <a:ext cx="5600700" cy="4381500"/>
          </a:xfrm>
          <a:prstGeom prst="roundRect">
            <a:avLst>
              <a:gd name="adj" fmla="val 2608"/>
            </a:avLst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438900" y="2743200"/>
            <a:ext cx="5143500" cy="1000125"/>
          </a:xfrm>
          <a:prstGeom prst="roundRect">
            <a:avLst>
              <a:gd name="adj" fmla="val 7619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438900" y="3895725"/>
            <a:ext cx="5143500" cy="981075"/>
          </a:xfrm>
          <a:prstGeom prst="roundRect">
            <a:avLst>
              <a:gd name="adj" fmla="val 7766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9600" y="457200"/>
            <a:ext cx="11582400" cy="152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975" i="0" u="none">
                <a:solidFill>
                  <a:srgbClr val="4F46E5"/>
                </a:solidFill>
                <a:latin typeface="Plus Jakarta Sans"/>
              </a:rPr>
              <a:t>04. DSU OPTIMIZATIONS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09600" y="647700"/>
            <a:ext cx="11582400" cy="3810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400" i="0" u="none">
                <a:solidFill>
                  <a:srgbClr val="0F172A"/>
                </a:solidFill>
                <a:latin typeface="Plus Jakarta Sans"/>
              </a:rPr>
              <a:t>Path Compression &amp; Union by Rank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8200" y="1847850"/>
            <a:ext cx="5238750" cy="39243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975" i="0" u="none">
                <a:solidFill>
                  <a:srgbClr val="F8FAFC"/>
                </a:solidFill>
                <a:latin typeface="Plus Jakarta Sans"/>
              </a:rPr>
              <a:t>// Find with Path Compression int find(DSU *dsu, int i) { if (dsu-&gt;parent[i] == i) return i; return dsu-&gt;parent[i] = find(dsu, dsu-&gt;parent[i]); } // Union by Rank void union_sets(DSU *dsu, int root_u, int root_v) { if (dsu-&gt;rank[root_u] &lt; dsu-&gt;rank[root_v]) { dsu-&gt;parent[root_u] = root_v; } else if (dsu-&gt;rank[root_u] &gt; dsu-&gt;rank[root_v]) { dsu-&gt;parent[root_v] = root_u; } else { dsu-&gt;parent[root_v] = root_u; dsu-&gt;rank[root_u]++; } }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38200" y="1847850"/>
            <a:ext cx="6429375" cy="1428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900" i="0" u="none">
                <a:solidFill>
                  <a:srgbClr val="38BDF8"/>
                </a:solidFill>
                <a:latin typeface="Plus Jakarta Sans"/>
              </a:rPr>
              <a:t>CODE SNIPPET 2: FIND &amp; UNION IN C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38200" y="2085975"/>
            <a:ext cx="5238750" cy="36861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975" i="0" u="none">
                <a:solidFill>
                  <a:srgbClr val="F8FAFC"/>
                </a:solidFill>
                <a:latin typeface="Fira Code"/>
              </a:rPr>
              <a:t>// Find with Path Compression int find(DSU *dsu, int i) { if (dsu-&gt;parent[i] == i) return i; return dsu-&gt;parent[i] = find(dsu, dsu-&gt;parent[i]); } // Union by Rank void union_sets(DSU *dsu, int root_u, int root_v) { if (dsu-&gt;rank[root_u] &lt; dsu-&gt;rank[root_v]) { dsu-&gt;parent[root_u] = root_v; } else if (dsu-&gt;rank[root_u] &gt; dsu-&gt;rank[root_v]) { dsu-&gt;parent[root_v] = root_u; } else { dsu-&gt;parent[root_v] = root_u; dsu-&gt;rank[root_u]++; } }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629400" y="2933700"/>
            <a:ext cx="5562600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200" i="0" u="none">
                <a:solidFill>
                  <a:srgbClr val="0F172A"/>
                </a:solidFill>
                <a:latin typeface="Plus Jakarta Sans"/>
              </a:rPr>
              <a:t>Path Compression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629400" y="3190875"/>
            <a:ext cx="4857750" cy="361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050" i="0" u="none">
                <a:solidFill>
                  <a:srgbClr val="475569"/>
                </a:solidFill>
                <a:latin typeface="Plus Jakarta Sans"/>
              </a:rPr>
              <a:t>Flattens tree during </a:t>
            </a:r>
            <a:r>
              <a:rPr b="0" sz="1050" i="0" u="none">
                <a:solidFill>
                  <a:srgbClr val="475569"/>
                </a:solidFill>
                <a:latin typeface="Plus Jakarta Sans"/>
              </a:rPr>
              <a:t>find</a:t>
            </a:r>
            <a:r>
              <a:rPr b="0" sz="1050" i="0" u="none">
                <a:solidFill>
                  <a:srgbClr val="475569"/>
                </a:solidFill>
                <a:latin typeface="Plus Jakarta Sans"/>
              </a:rPr>
              <a:t> by pointing traversed nodes directly to the root root representative.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629400" y="4086225"/>
            <a:ext cx="5562600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200" i="0" u="none">
                <a:solidFill>
                  <a:srgbClr val="0F172A"/>
                </a:solidFill>
                <a:latin typeface="Plus Jakarta Sans"/>
              </a:rPr>
              <a:t>Union by Rank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629400" y="4343400"/>
            <a:ext cx="485775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050" i="0" u="none">
                <a:solidFill>
                  <a:srgbClr val="475569"/>
                </a:solidFill>
                <a:latin typeface="Plus Jakarta Sans"/>
              </a:rPr>
              <a:t>Attaches shorter tree under root of taller tree, preventing unbalanced degenerate tree creation.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09600" y="3005435"/>
            <a:ext cx="5372100" cy="1609129"/>
          </a:xfrm>
          <a:prstGeom prst="roundRect">
            <a:avLst>
              <a:gd name="adj" fmla="val 7103"/>
            </a:avLst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210300" y="2500907"/>
            <a:ext cx="5372100" cy="2618184"/>
          </a:xfrm>
          <a:prstGeom prst="roundRect">
            <a:avLst>
              <a:gd name="adj" fmla="val 4365"/>
            </a:avLst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09600" y="457200"/>
            <a:ext cx="11582400" cy="152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975" i="0" u="none">
                <a:solidFill>
                  <a:srgbClr val="4F46E5"/>
                </a:solidFill>
                <a:latin typeface="Plus Jakarta Sans"/>
              </a:rPr>
              <a:t>05. IMPLEMENTATION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9600" y="647700"/>
            <a:ext cx="11582400" cy="3810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400" i="0" u="none">
                <a:solidFill>
                  <a:srgbClr val="0F172A"/>
                </a:solidFill>
                <a:latin typeface="Plus Jakarta Sans"/>
              </a:rPr>
              <a:t>Edge Sorting and MST Assembly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00100" y="3195935"/>
            <a:ext cx="5086350" cy="122812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975" i="0" u="none">
                <a:solidFill>
                  <a:srgbClr val="F8FAFC"/>
                </a:solidFill>
                <a:latin typeface="Plus Jakarta Sans"/>
              </a:rPr>
              <a:t>int compareEdges(const void *a, const void *b) { Edge *e1 = (Edge *)a; Edge *e2 = (Edge *)b; return e1-&gt;weight - e2-&gt;weight; }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0" y="2691407"/>
            <a:ext cx="5086350" cy="2237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975" i="0" u="none">
                <a:solidFill>
                  <a:srgbClr val="F8FAFC"/>
                </a:solidFill>
                <a:latin typeface="Plus Jakarta Sans"/>
              </a:rPr>
              <a:t>qsort(edges, E, sizeof(Edge), compareEdges); int mst_count = 0; for (int i = 0; i &lt; E &amp;&amp; mst_count &lt; V - 1; i++) { int root_u = find(&amp;dsu, edges[i].src); int root_v = find(&amp;dsu, edges[i].dest); if (root_u != root_v) { result[mst_count++] = edges[i]; union_sets(&amp;dsu, root_u, root_v); } }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00100" y="3195935"/>
            <a:ext cx="6238875" cy="1428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900" i="0" u="none">
                <a:solidFill>
                  <a:srgbClr val="38BDF8"/>
                </a:solidFill>
                <a:latin typeface="Plus Jakarta Sans"/>
              </a:rPr>
              <a:t>CODE SNIPPET 3: QSORT COMPARATOR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0100" y="3415010"/>
            <a:ext cx="5086350" cy="10090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975" i="0" u="none">
                <a:solidFill>
                  <a:srgbClr val="F8FAFC"/>
                </a:solidFill>
                <a:latin typeface="Fira Code"/>
              </a:rPr>
              <a:t>int compareEdges(const void *a, const void *b) { Edge *e1 = (Edge *)a; Edge *e2 = (Edge *)b; return e1-&gt;weight - e2-&gt;weight; }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2691407"/>
            <a:ext cx="5791200" cy="1428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900" i="0" u="none">
                <a:solidFill>
                  <a:srgbClr val="38BDF8"/>
                </a:solidFill>
                <a:latin typeface="Plus Jakarta Sans"/>
              </a:rPr>
              <a:t>CODE SNIPPET 4: KRUSKAL DRIVER LOOP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2910482"/>
            <a:ext cx="5086350" cy="20181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975" i="0" u="none">
                <a:solidFill>
                  <a:srgbClr val="F8FAFC"/>
                </a:solidFill>
                <a:latin typeface="Fira Code"/>
              </a:rPr>
              <a:t>qsort(edges, E, sizeof(Edge), compareEdges); int mst_count = 0; for (int i = 0; i &lt; E &amp;&amp; mst_count &lt; V - 1; i++) { int root_u = find(&amp;dsu, edges[i].src); int root_v = find(&amp;dsu, edges[i].dest); if (root_u != root_v) { result[mst_count++] = edges[i]; union_sets(&amp;dsu, root_u, root_v); } }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09600" y="2852737"/>
            <a:ext cx="10972800" cy="1914525"/>
          </a:xfrm>
          <a:prstGeom prst="roundRect">
            <a:avLst>
              <a:gd name="adj" fmla="val 3980"/>
            </a:avLst>
          </a:prstGeom>
          <a:noFill/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19125" y="3257550"/>
            <a:ext cx="835818" cy="9525"/>
          </a:xfrm>
          <a:prstGeom prst="rect">
            <a:avLst/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454943" y="3257550"/>
            <a:ext cx="1876871" cy="9525"/>
          </a:xfrm>
          <a:prstGeom prst="rect">
            <a:avLst/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3331815" y="3257550"/>
            <a:ext cx="1085105" cy="9525"/>
          </a:xfrm>
          <a:prstGeom prst="rect">
            <a:avLst/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416921" y="3257550"/>
            <a:ext cx="2390030" cy="9525"/>
          </a:xfrm>
          <a:prstGeom prst="rect">
            <a:avLst/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806951" y="3257550"/>
            <a:ext cx="2082105" cy="9525"/>
          </a:xfrm>
          <a:prstGeom prst="rect">
            <a:avLst/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8889057" y="3257550"/>
            <a:ext cx="2683817" cy="9525"/>
          </a:xfrm>
          <a:prstGeom prst="rect">
            <a:avLst/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19125" y="3629025"/>
            <a:ext cx="835818" cy="9525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454943" y="3629025"/>
            <a:ext cx="1876871" cy="9525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331815" y="3629025"/>
            <a:ext cx="1085105" cy="9525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416921" y="3629025"/>
            <a:ext cx="2390030" cy="9525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806951" y="3629025"/>
            <a:ext cx="2082105" cy="9525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889057" y="3629025"/>
            <a:ext cx="2683817" cy="9525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19125" y="4000500"/>
            <a:ext cx="835818" cy="9525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1454943" y="4000500"/>
            <a:ext cx="1876871" cy="9525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3331815" y="4000500"/>
            <a:ext cx="1085105" cy="9525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416921" y="4000500"/>
            <a:ext cx="2390030" cy="9525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806951" y="4000500"/>
            <a:ext cx="2082105" cy="9525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889057" y="4000500"/>
            <a:ext cx="2683817" cy="9525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19125" y="4371975"/>
            <a:ext cx="835818" cy="9525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1454943" y="4371975"/>
            <a:ext cx="1876871" cy="9525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3331815" y="4371975"/>
            <a:ext cx="1085105" cy="9525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4416921" y="4371975"/>
            <a:ext cx="2390030" cy="9525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806951" y="4371975"/>
            <a:ext cx="2082105" cy="9525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8889057" y="4371975"/>
            <a:ext cx="2683817" cy="9525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19125" y="4743450"/>
            <a:ext cx="835818" cy="9525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1454943" y="4743450"/>
            <a:ext cx="1876871" cy="9525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3331815" y="4743450"/>
            <a:ext cx="1085105" cy="9525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4416921" y="4743450"/>
            <a:ext cx="2390030" cy="9525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6806951" y="4743450"/>
            <a:ext cx="2082105" cy="9525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8889057" y="4743450"/>
            <a:ext cx="2683817" cy="9525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33" name="Table 32"/>
          <p:cNvGraphicFramePr>
            <a:graphicFrameLocks noGrp="1"/>
          </p:cNvGraphicFramePr>
          <p:nvPr/>
        </p:nvGraphicFramePr>
        <p:xfrm>
          <a:off x="619125" y="2862262"/>
          <a:ext cx="10953746" cy="1895475"/>
        </p:xfrm>
        <a:graphic>
          <a:graphicData uri="http://schemas.openxmlformats.org/drawingml/2006/table">
            <a:tbl>
              <a:tblPr firstRow="0" bandRow="0">
                <a:lnL>
                  <a:noFill/>
                </a:lnL>
                <a:lnR>
                  <a:noFill/>
                </a:lnR>
                <a:lnT>
                  <a:noFill/>
                </a:lnT>
                <a:lnB>
                  <a:noFill/>
                </a:lnB>
                <a:lnV>
                  <a:noFill/>
                </a:lnV>
                <a:lnH>
                  <a:noFill/>
                </a:lnH>
              </a:tblPr>
              <a:tblGrid>
                <a:gridCol w="835818"/>
                <a:gridCol w="1876871"/>
                <a:gridCol w="1085105"/>
                <a:gridCol w="2390030"/>
                <a:gridCol w="2082105"/>
                <a:gridCol w="2683817"/>
              </a:tblGrid>
              <a:tr h="379095">
                <a:tc>
                  <a:txBody>
                    <a:bodyPr/>
                    <a:lstStyle/>
                    <a:p>
                      <a:pPr algn="l"/>
                      <a:r>
                        <a:rPr b="1" sz="1050" i="0" u="none">
                          <a:solidFill>
                            <a:srgbClr val="0F172A"/>
                          </a:solidFill>
                          <a:latin typeface="Plus Jakarta Sans"/>
                        </a:rPr>
                        <a:t>Step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1" sz="1050" i="0" u="none">
                          <a:solidFill>
                            <a:srgbClr val="0F172A"/>
                          </a:solidFill>
                          <a:latin typeface="Plus Jakarta Sans"/>
                        </a:rPr>
                        <a:t>Edge Examined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1" sz="1050" i="0" u="none">
                          <a:solidFill>
                            <a:srgbClr val="0F172A"/>
                          </a:solidFill>
                          <a:latin typeface="Plus Jakarta Sans"/>
                        </a:rPr>
                        <a:t>Weight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1" sz="1050" i="0" u="none">
                          <a:solidFill>
                            <a:srgbClr val="0F172A"/>
                          </a:solidFill>
                          <a:latin typeface="Plus Jakarta Sans"/>
                        </a:rPr>
                        <a:t>DSU Roots Check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1" sz="1050" i="0" u="none">
                          <a:solidFill>
                            <a:srgbClr val="0F172A"/>
                          </a:solidFill>
                          <a:latin typeface="Plus Jakarta Sans"/>
                        </a:rPr>
                        <a:t>Action Taken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1" sz="1050" i="0" u="none">
                          <a:solidFill>
                            <a:srgbClr val="0F172A"/>
                          </a:solidFill>
                          <a:latin typeface="Plus Jakarta Sans"/>
                        </a:rPr>
                        <a:t>MST Status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1F5F9"/>
                    </a:solidFill>
                  </a:tcPr>
                </a:tc>
              </a:tr>
              <a:tr h="379095">
                <a:tc>
                  <a:txBody>
                    <a:bodyPr/>
                    <a:lstStyle/>
                    <a:p>
                      <a:pPr algn="l"/>
                      <a:r>
                        <a:rPr b="0" sz="1050" i="0" u="none">
                          <a:solidFill>
                            <a:srgbClr val="1E293B"/>
                          </a:solidFill>
                          <a:latin typeface="Plus Jakarta Sans"/>
                        </a:rPr>
                        <a:t>1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050" i="0" u="none">
                          <a:solidFill>
                            <a:srgbClr val="1E293B"/>
                          </a:solidFill>
                          <a:latin typeface="Plus Jakarta Sans"/>
                        </a:rPr>
                        <a:t>(0, 1)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050" i="0" u="none">
                          <a:solidFill>
                            <a:srgbClr val="1E293B"/>
                          </a:solidFill>
                          <a:latin typeface="Plus Jakarta Sans"/>
                        </a:rPr>
                        <a:t>1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050" i="0" u="none">
                          <a:solidFill>
                            <a:srgbClr val="1E293B"/>
                          </a:solidFill>
                          <a:latin typeface="Plus Jakarta Sans"/>
                        </a:rPr>
                        <a:t>find(0)=0 ≠ find(1)=1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1" sz="1050" i="0" u="none">
                          <a:solidFill>
                            <a:srgbClr val="16A34A"/>
                          </a:solidFill>
                          <a:latin typeface="Plus Jakarta Sans"/>
                        </a:rPr>
                        <a:t>ACCEPT &amp; UNION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050" i="0" u="none">
                          <a:solidFill>
                            <a:srgbClr val="1E293B"/>
                          </a:solidFill>
                          <a:latin typeface="Plus Jakarta Sans"/>
                        </a:rPr>
                        <a:t>Count = 1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</a:tr>
              <a:tr h="379095">
                <a:tc>
                  <a:txBody>
                    <a:bodyPr/>
                    <a:lstStyle/>
                    <a:p>
                      <a:pPr algn="l"/>
                      <a:r>
                        <a:rPr b="0" sz="1050" i="0" u="none">
                          <a:solidFill>
                            <a:srgbClr val="1E293B"/>
                          </a:solidFill>
                          <a:latin typeface="Plus Jakarta Sans"/>
                        </a:rPr>
                        <a:t>2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050" i="0" u="none">
                          <a:solidFill>
                            <a:srgbClr val="1E293B"/>
                          </a:solidFill>
                          <a:latin typeface="Plus Jakarta Sans"/>
                        </a:rPr>
                        <a:t>(1, 3)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050" i="0" u="none">
                          <a:solidFill>
                            <a:srgbClr val="1E293B"/>
                          </a:solidFill>
                          <a:latin typeface="Plus Jakarta Sans"/>
                        </a:rPr>
                        <a:t>3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050" i="0" u="none">
                          <a:solidFill>
                            <a:srgbClr val="1E293B"/>
                          </a:solidFill>
                          <a:latin typeface="Plus Jakarta Sans"/>
                        </a:rPr>
                        <a:t>find(1)=0 ≠ find(3)=3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1" sz="1050" i="0" u="none">
                          <a:solidFill>
                            <a:srgbClr val="16A34A"/>
                          </a:solidFill>
                          <a:latin typeface="Plus Jakarta Sans"/>
                        </a:rPr>
                        <a:t>ACCEPT &amp; UNION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050" i="0" u="none">
                          <a:solidFill>
                            <a:srgbClr val="1E293B"/>
                          </a:solidFill>
                          <a:latin typeface="Plus Jakarta Sans"/>
                        </a:rPr>
                        <a:t>Count = 2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</a:tr>
              <a:tr h="379095">
                <a:tc>
                  <a:txBody>
                    <a:bodyPr/>
                    <a:lstStyle/>
                    <a:p>
                      <a:pPr algn="l"/>
                      <a:r>
                        <a:rPr b="0" sz="1050" i="0" u="none">
                          <a:solidFill>
                            <a:srgbClr val="1E293B"/>
                          </a:solidFill>
                          <a:latin typeface="Plus Jakarta Sans"/>
                        </a:rPr>
                        <a:t>3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050" i="0" u="none">
                          <a:solidFill>
                            <a:srgbClr val="1E293B"/>
                          </a:solidFill>
                          <a:latin typeface="Plus Jakarta Sans"/>
                        </a:rPr>
                        <a:t>(0, 2)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050" i="0" u="none">
                          <a:solidFill>
                            <a:srgbClr val="1E293B"/>
                          </a:solidFill>
                          <a:latin typeface="Plus Jakarta Sans"/>
                        </a:rPr>
                        <a:t>4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050" i="0" u="none">
                          <a:solidFill>
                            <a:srgbClr val="1E293B"/>
                          </a:solidFill>
                          <a:latin typeface="Plus Jakarta Sans"/>
                        </a:rPr>
                        <a:t>find(0)=0 ≠ find(2)=2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1" sz="1050" i="0" u="none">
                          <a:solidFill>
                            <a:srgbClr val="16A34A"/>
                          </a:solidFill>
                          <a:latin typeface="Plus Jakarta Sans"/>
                        </a:rPr>
                        <a:t>ACCEPT &amp; UNION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1" sz="1050" i="0" u="none">
                          <a:solidFill>
                            <a:srgbClr val="4F46E5"/>
                          </a:solidFill>
                          <a:latin typeface="Plus Jakarta Sans"/>
                        </a:rPr>
                        <a:t>Count = 3 (V-1 reached)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</a:tr>
              <a:tr h="379095">
                <a:tc>
                  <a:txBody>
                    <a:bodyPr/>
                    <a:lstStyle/>
                    <a:p>
                      <a:pPr algn="l"/>
                      <a:r>
                        <a:rPr b="0" sz="1050" i="0" u="none">
                          <a:solidFill>
                            <a:srgbClr val="0F172A"/>
                          </a:solidFill>
                          <a:latin typeface="Plus Jakarta Sans"/>
                        </a:rPr>
                        <a:t>4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050" i="0" u="none">
                          <a:solidFill>
                            <a:srgbClr val="0F172A"/>
                          </a:solidFill>
                          <a:latin typeface="Plus Jakarta Sans"/>
                        </a:rPr>
                        <a:t>(2, 3)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050" i="0" u="none">
                          <a:solidFill>
                            <a:srgbClr val="0F172A"/>
                          </a:solidFill>
                          <a:latin typeface="Plus Jakarta Sans"/>
                        </a:rPr>
                        <a:t>5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050" i="0" u="none">
                          <a:solidFill>
                            <a:srgbClr val="0F172A"/>
                          </a:solidFill>
                          <a:latin typeface="Plus Jakarta Sans"/>
                        </a:rPr>
                        <a:t>find(2)=0 == find(3)=0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1" sz="1050" i="0" u="none">
                          <a:solidFill>
                            <a:srgbClr val="DC2626"/>
                          </a:solidFill>
                          <a:latin typeface="Plus Jakarta Sans"/>
                        </a:rPr>
                        <a:t>REJECT (Cycle)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050" i="0" u="none">
                          <a:solidFill>
                            <a:srgbClr val="0F172A"/>
                          </a:solidFill>
                          <a:latin typeface="Plus Jakarta Sans"/>
                        </a:rPr>
                        <a:t>Skipped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34" name="TextBox 33"/>
          <p:cNvSpPr txBox="1"/>
          <p:nvPr/>
        </p:nvSpPr>
        <p:spPr>
          <a:xfrm>
            <a:off x="609600" y="457200"/>
            <a:ext cx="11582400" cy="152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975" i="0" u="none">
                <a:solidFill>
                  <a:srgbClr val="4F46E5"/>
                </a:solidFill>
                <a:latin typeface="Plus Jakarta Sans"/>
              </a:rPr>
              <a:t>06. VISUAL TRACE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09600" y="647700"/>
            <a:ext cx="11582400" cy="3810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400" i="0" u="none">
                <a:solidFill>
                  <a:srgbClr val="0F172A"/>
                </a:solidFill>
                <a:latin typeface="Plus Jakarta Sans"/>
              </a:rPr>
              <a:t>Sample Graph Execution Trace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09600" y="2566987"/>
            <a:ext cx="11582400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050" i="0" u="none">
                <a:solidFill>
                  <a:srgbClr val="64748B"/>
                </a:solidFill>
                <a:latin typeface="Plus Jakarta Sans"/>
              </a:rPr>
              <a:t>Graph Input: V=4 Vertices (0,1,2,3), E=5 Edges sorted by weight: (0-1:1), (1-3:3), (0-2:4), (2-3:5), (1-2:6)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09600" y="4881562"/>
            <a:ext cx="11582400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0F172A"/>
                </a:solidFill>
                <a:latin typeface="Plus Jakarta Sans"/>
              </a:rPr>
              <a:t>Final Total MST Weight = 1 + 3 + 4 = 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09600" y="1257300"/>
            <a:ext cx="5600700" cy="5143500"/>
          </a:xfrm>
          <a:prstGeom prst="roundRect">
            <a:avLst>
              <a:gd name="adj" fmla="val 2222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515100" y="2638425"/>
            <a:ext cx="5067300" cy="1190625"/>
          </a:xfrm>
          <a:prstGeom prst="roundRect">
            <a:avLst>
              <a:gd name="adj" fmla="val 6400"/>
            </a:avLst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515100" y="3981450"/>
            <a:ext cx="5067300" cy="1038225"/>
          </a:xfrm>
          <a:prstGeom prst="roundRect">
            <a:avLst>
              <a:gd name="adj" fmla="val 7339"/>
            </a:avLst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9600" y="457200"/>
            <a:ext cx="11582400" cy="152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975" i="0" u="none">
                <a:solidFill>
                  <a:srgbClr val="4F46E5"/>
                </a:solidFill>
                <a:latin typeface="Plus Jakarta Sans"/>
              </a:rPr>
              <a:t>07. ANALYSIS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09600" y="647700"/>
            <a:ext cx="11582400" cy="3810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400" i="0" u="none">
                <a:solidFill>
                  <a:srgbClr val="0F172A"/>
                </a:solidFill>
                <a:latin typeface="Plus Jakarta Sans"/>
              </a:rPr>
              <a:t>Correctness Sketch &amp; Complexity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76300" y="3167062"/>
            <a:ext cx="6650831" cy="2381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0F172A"/>
                </a:solidFill>
                <a:latin typeface="Plus Jakarta Sans"/>
              </a:rPr>
              <a:t>Cut Property Proof Sketch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76300" y="3519487"/>
            <a:ext cx="5162550" cy="4286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87"/>
              </a:lnSpc>
            </a:pPr>
            <a:r>
              <a:rPr b="0" sz="1125" i="0" u="none">
                <a:solidFill>
                  <a:srgbClr val="475569"/>
                </a:solidFill>
                <a:latin typeface="Plus Jakarta Sans"/>
              </a:rPr>
              <a:t>For any cut in a graph, the minimum weight edge crossing the cut belongs to the MST.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76300" y="4062412"/>
            <a:ext cx="5162550" cy="4286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87"/>
              </a:lnSpc>
            </a:pPr>
            <a:r>
              <a:rPr b="0" sz="1125" i="0" u="none">
                <a:solidFill>
                  <a:srgbClr val="475569"/>
                </a:solidFill>
                <a:latin typeface="Plus Jakarta Sans"/>
              </a:rPr>
              <a:t>Kruskal's algorithm always selects the lightest valid edge across existing component cuts, guaranteeing global minimality via exchange arguments.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705600" y="2828925"/>
            <a:ext cx="5486400" cy="1428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900" i="0" u="none">
                <a:solidFill>
                  <a:srgbClr val="38BDF8"/>
                </a:solidFill>
                <a:latin typeface="Plus Jakarta Sans"/>
              </a:rPr>
              <a:t>TIME COMPLEXITY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705600" y="3009900"/>
            <a:ext cx="5486400" cy="2857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800" i="0" u="none">
                <a:solidFill>
                  <a:srgbClr val="FFFFFF"/>
                </a:solidFill>
                <a:latin typeface="Plus Jakarta Sans"/>
              </a:rPr>
              <a:t>O(E log E)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705600" y="3333750"/>
            <a:ext cx="478155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975" i="0" u="none">
                <a:solidFill>
                  <a:srgbClr val="94A3B8"/>
                </a:solidFill>
                <a:latin typeface="Plus Jakarta Sans"/>
              </a:rPr>
              <a:t>Dominated by edge sorting. DSU operations take near-constant O(E · α(V)) time, where α is the inverse Ackermann function.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705600" y="4171950"/>
            <a:ext cx="5486400" cy="1428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900" i="0" u="none">
                <a:solidFill>
                  <a:srgbClr val="38BDF8"/>
                </a:solidFill>
                <a:latin typeface="Plus Jakarta Sans"/>
              </a:rPr>
              <a:t>SPACE COMPLEXITY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705600" y="4352925"/>
            <a:ext cx="5486400" cy="2857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800" i="0" u="none">
                <a:solidFill>
                  <a:srgbClr val="FFFFFF"/>
                </a:solidFill>
                <a:latin typeface="Plus Jakarta Sans"/>
              </a:rPr>
              <a:t>O(V + E)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705600" y="4676775"/>
            <a:ext cx="5486400" cy="152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975" i="0" u="none">
                <a:solidFill>
                  <a:srgbClr val="94A3B8"/>
                </a:solidFill>
                <a:latin typeface="Plus Jakarta Sans"/>
              </a:rPr>
              <a:t>Stores E edges in array and V elements in parent/rank DSU arrays.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09600" y="2198191"/>
            <a:ext cx="5562600" cy="3223617"/>
          </a:xfrm>
          <a:prstGeom prst="roundRect">
            <a:avLst>
              <a:gd name="adj" fmla="val 3545"/>
            </a:avLst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400800" y="2495550"/>
            <a:ext cx="5181600" cy="809625"/>
          </a:xfrm>
          <a:prstGeom prst="rect">
            <a:avLst/>
          </a:prstGeom>
          <a:solidFill>
            <a:srgbClr val="FFF1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400800" y="3419475"/>
            <a:ext cx="5181600" cy="800100"/>
          </a:xfrm>
          <a:prstGeom prst="rect">
            <a:avLst/>
          </a:prstGeom>
          <a:solidFill>
            <a:srgbClr val="FFF1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400800" y="4333875"/>
            <a:ext cx="5181600" cy="790575"/>
          </a:xfrm>
          <a:prstGeom prst="rect">
            <a:avLst/>
          </a:prstGeom>
          <a:solidFill>
            <a:srgbClr val="FFF1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400800" y="2495550"/>
            <a:ext cx="38100" cy="809625"/>
          </a:xfrm>
          <a:prstGeom prst="rect">
            <a:avLst/>
          </a:prstGeom>
          <a:solidFill>
            <a:srgbClr val="F43F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400800" y="3419475"/>
            <a:ext cx="38100" cy="800100"/>
          </a:xfrm>
          <a:prstGeom prst="rect">
            <a:avLst/>
          </a:prstGeom>
          <a:solidFill>
            <a:srgbClr val="F43F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400800" y="4333875"/>
            <a:ext cx="38100" cy="790575"/>
          </a:xfrm>
          <a:prstGeom prst="rect">
            <a:avLst/>
          </a:prstGeom>
          <a:solidFill>
            <a:srgbClr val="F43F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09600" y="457200"/>
            <a:ext cx="11582400" cy="152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975" i="0" u="none">
                <a:solidFill>
                  <a:srgbClr val="4F46E5"/>
                </a:solidFill>
                <a:latin typeface="Plus Jakarta Sans"/>
              </a:rPr>
              <a:t>08. PRACTICAL C CONSIDERATIONS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09600" y="647700"/>
            <a:ext cx="11582400" cy="3810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400" i="0" u="none">
                <a:solidFill>
                  <a:srgbClr val="0F172A"/>
                </a:solidFill>
                <a:latin typeface="Plus Jakarta Sans"/>
              </a:rPr>
              <a:t>Common Pitfalls &amp; Memory Safety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00100" y="2388691"/>
            <a:ext cx="5276850" cy="284261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975" i="0" u="none">
                <a:solidFill>
                  <a:srgbClr val="F8FAFC"/>
                </a:solidFill>
                <a:latin typeface="Plus Jakarta Sans"/>
              </a:rPr>
              <a:t>DSU create_dsu(int n) { DSU dsu; dsu.n = n; dsu.parent = (int *)malloc(n * sizeof(int)); dsu.rank = (int *)calloc(n, sizeof(int)); for (int i = 0; i &lt; n; i++) dsu.parent[i] = i; return dsu; } void free_dsu(DSU *dsu) { free(dsu-&gt;parent); free(dsu-&gt;rank); }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00100" y="2388691"/>
            <a:ext cx="6477000" cy="1428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900" i="0" u="none">
                <a:solidFill>
                  <a:srgbClr val="38BDF8"/>
                </a:solidFill>
                <a:latin typeface="Plus Jakarta Sans"/>
              </a:rPr>
              <a:t>CODE SNIPPET 5: DSU INITIALIZATION &amp; CLEANUP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0100" y="2607766"/>
            <a:ext cx="5276850" cy="262354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975" i="0" u="none">
                <a:solidFill>
                  <a:srgbClr val="F8FAFC"/>
                </a:solidFill>
                <a:latin typeface="Fira Code"/>
              </a:rPr>
              <a:t>DSU create_dsu(int n) { DSU dsu; dsu.n = n; dsu.parent = (int *)malloc(n * sizeof(int)); dsu.rank = (int *)calloc(n, sizeof(int)); for (int i = 0; i &lt; n; i++) dsu.parent[i] = i; return dsu; } void free_dsu(DSU *dsu) { free(dsu-&gt;parent); free(dsu-&gt;rank); }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91300" y="2647950"/>
            <a:ext cx="5600700" cy="1809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125" i="0" u="none">
                <a:solidFill>
                  <a:srgbClr val="9F1239"/>
                </a:solidFill>
                <a:latin typeface="Plus Jakarta Sans"/>
              </a:rPr>
              <a:t>qsort Comparator Overflow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91300" y="2828925"/>
            <a:ext cx="493395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975" i="0" u="none">
                <a:solidFill>
                  <a:srgbClr val="881337"/>
                </a:solidFill>
                <a:latin typeface="Plus Jakarta Sans"/>
              </a:rPr>
              <a:t>Writing </a:t>
            </a:r>
            <a:r>
              <a:rPr b="0" sz="975" i="0" u="none">
                <a:solidFill>
                  <a:srgbClr val="881337"/>
                </a:solidFill>
                <a:latin typeface="Plus Jakarta Sans"/>
              </a:rPr>
              <a:t>return e1-&gt;weight - e2-&gt;weight</a:t>
            </a:r>
            <a:r>
              <a:rPr b="0" sz="975" i="0" u="none">
                <a:solidFill>
                  <a:srgbClr val="881337"/>
                </a:solidFill>
                <a:latin typeface="Plus Jakarta Sans"/>
              </a:rPr>
              <a:t> can overflow for extreme integer ranges. Use explicit </a:t>
            </a:r>
            <a:r>
              <a:rPr b="0" sz="975" i="0" u="none">
                <a:solidFill>
                  <a:srgbClr val="881337"/>
                </a:solidFill>
                <a:latin typeface="Plus Jakarta Sans"/>
              </a:rPr>
              <a:t>&lt;</a:t>
            </a:r>
            <a:r>
              <a:rPr b="0" sz="975" i="0" u="none">
                <a:solidFill>
                  <a:srgbClr val="881337"/>
                </a:solidFill>
                <a:latin typeface="Plus Jakarta Sans"/>
              </a:rPr>
              <a:t> / </a:t>
            </a:r>
            <a:r>
              <a:rPr b="0" sz="975" i="0" u="none">
                <a:solidFill>
                  <a:srgbClr val="881337"/>
                </a:solidFill>
                <a:latin typeface="Plus Jakarta Sans"/>
              </a:rPr>
              <a:t>&gt;</a:t>
            </a:r>
            <a:r>
              <a:rPr b="0" sz="975" i="0" u="none">
                <a:solidFill>
                  <a:srgbClr val="881337"/>
                </a:solidFill>
                <a:latin typeface="Plus Jakarta Sans"/>
              </a:rPr>
              <a:t> conditionals for strict safety.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91300" y="3571875"/>
            <a:ext cx="5600700" cy="1809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125" i="0" u="none">
                <a:solidFill>
                  <a:srgbClr val="9F1239"/>
                </a:solidFill>
                <a:latin typeface="Plus Jakarta Sans"/>
              </a:rPr>
              <a:t>Disconnected Graphs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91300" y="3752850"/>
            <a:ext cx="4933950" cy="3143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975" i="0" u="none">
                <a:solidFill>
                  <a:srgbClr val="881337"/>
                </a:solidFill>
                <a:latin typeface="Plus Jakarta Sans"/>
              </a:rPr>
              <a:t>If </a:t>
            </a:r>
            <a:r>
              <a:rPr b="0" sz="975" i="0" u="none">
                <a:solidFill>
                  <a:srgbClr val="881337"/>
                </a:solidFill>
                <a:latin typeface="Plus Jakarta Sans"/>
              </a:rPr>
              <a:t>mst_count &lt; V - 1</a:t>
            </a:r>
            <a:r>
              <a:rPr b="0" sz="975" i="0" u="none">
                <a:solidFill>
                  <a:srgbClr val="881337"/>
                </a:solidFill>
                <a:latin typeface="Plus Jakarta Sans"/>
              </a:rPr>
              <a:t> after inspecting all edges, graph is disconnected (yields Minimum Spanning Forest).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91300" y="4486275"/>
            <a:ext cx="5600700" cy="1809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125" i="0" u="none">
                <a:solidFill>
                  <a:srgbClr val="9F1239"/>
                </a:solidFill>
                <a:latin typeface="Plus Jakarta Sans"/>
              </a:rPr>
              <a:t>1-Based vs 0-Based Indexing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91300" y="4667250"/>
            <a:ext cx="493395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975" i="0" u="none">
                <a:solidFill>
                  <a:srgbClr val="881337"/>
                </a:solidFill>
                <a:latin typeface="Plus Jakarta Sans"/>
              </a:rPr>
              <a:t>Mismatching vertex indices when allocating DSU arrays leads to out-of-bound memory faults.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09600" y="1257300"/>
            <a:ext cx="5334000" cy="5143500"/>
          </a:xfrm>
          <a:prstGeom prst="roundRect">
            <a:avLst>
              <a:gd name="adj" fmla="val 2222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248400" y="1257300"/>
            <a:ext cx="5334000" cy="5143500"/>
          </a:xfrm>
          <a:prstGeom prst="roundRect">
            <a:avLst>
              <a:gd name="adj" fmla="val 2222"/>
            </a:avLst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09600" y="457200"/>
            <a:ext cx="11582400" cy="152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975" i="0" u="none">
                <a:solidFill>
                  <a:srgbClr val="4F46E5"/>
                </a:solidFill>
                <a:latin typeface="Plus Jakarta Sans"/>
              </a:rPr>
              <a:t>09. RECAP &amp; SOURCES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9600" y="647700"/>
            <a:ext cx="11582400" cy="3810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400" i="0" u="none">
                <a:solidFill>
                  <a:srgbClr val="0F172A"/>
                </a:solidFill>
                <a:latin typeface="Plus Jakarta Sans"/>
              </a:rPr>
              <a:t>Summary and Key Takeaways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76300" y="2914650"/>
            <a:ext cx="6300787" cy="2381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0F172A"/>
                </a:solidFill>
                <a:latin typeface="Plus Jakarta Sans"/>
              </a:rPr>
              <a:t>Core Takeaways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15100" y="3143250"/>
            <a:ext cx="5676900" cy="152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975" i="0" u="none">
                <a:solidFill>
                  <a:srgbClr val="38BDF8"/>
                </a:solidFill>
                <a:latin typeface="Plus Jakarta Sans"/>
              </a:rPr>
              <a:t>REFERENCES &amp; FURTHER READING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90600" y="3264693"/>
            <a:ext cx="76200" cy="2476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125" i="0" u="none">
                <a:solidFill>
                  <a:srgbClr val="475569"/>
                </a:solidFill>
                <a:latin typeface="Plus Jakarta Sans"/>
              </a:rPr>
              <a:t>•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66800" y="3267075"/>
            <a:ext cx="4705350" cy="485775"/>
          </a:xfrm>
          <a:prstGeom prst="rect">
            <a:avLst/>
          </a:prstGeom>
          <a:noFill/>
        </p:spPr>
        <p:txBody>
          <a:bodyPr wrap="square" lIns="76200" rIns="0" tIns="0" bIns="0" anchor="t">
            <a:spAutoFit/>
          </a:bodyPr>
          <a:lstStyle/>
          <a:p>
            <a:pPr algn="l">
              <a:lnSpc>
                <a:spcPts val="1912"/>
              </a:lnSpc>
            </a:pPr>
            <a:r>
              <a:rPr b="1" sz="1125" i="0" u="none">
                <a:solidFill>
                  <a:srgbClr val="475569"/>
                </a:solidFill>
                <a:latin typeface="Plus Jakarta Sans"/>
              </a:rPr>
              <a:t>Sparse Graph Champion:</a:t>
            </a:r>
            <a:r>
              <a:rPr b="0" sz="1125" i="0" u="none">
                <a:solidFill>
                  <a:srgbClr val="475569"/>
                </a:solidFill>
                <a:latin typeface="Plus Jakarta Sans"/>
              </a:rPr>
              <a:t> Ideal when E ≪ V² due to simple O(E log E) edge sorting.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90600" y="3750468"/>
            <a:ext cx="76200" cy="2476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125" i="0" u="none">
                <a:solidFill>
                  <a:srgbClr val="475569"/>
                </a:solidFill>
                <a:latin typeface="Plus Jakarta Sans"/>
              </a:rPr>
              <a:t>•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66800" y="3752850"/>
            <a:ext cx="4705350" cy="485775"/>
          </a:xfrm>
          <a:prstGeom prst="rect">
            <a:avLst/>
          </a:prstGeom>
          <a:noFill/>
        </p:spPr>
        <p:txBody>
          <a:bodyPr wrap="square" lIns="76200" rIns="0" tIns="0" bIns="0" anchor="t">
            <a:spAutoFit/>
          </a:bodyPr>
          <a:lstStyle/>
          <a:p>
            <a:pPr algn="l">
              <a:lnSpc>
                <a:spcPts val="1912"/>
              </a:lnSpc>
            </a:pPr>
            <a:r>
              <a:rPr b="1" sz="1125" i="0" u="none">
                <a:solidFill>
                  <a:srgbClr val="475569"/>
                </a:solidFill>
                <a:latin typeface="Plus Jakarta Sans"/>
              </a:rPr>
              <a:t>DSU Powerhouse:</a:t>
            </a:r>
            <a:r>
              <a:rPr b="0" sz="1125" i="0" u="none">
                <a:solidFill>
                  <a:srgbClr val="475569"/>
                </a:solidFill>
                <a:latin typeface="Plus Jakarta Sans"/>
              </a:rPr>
              <a:t> Union-Find handles cycle detection efficiently in near O(1) time.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90600" y="4236243"/>
            <a:ext cx="76200" cy="2476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125" i="0" u="none">
                <a:solidFill>
                  <a:srgbClr val="475569"/>
                </a:solidFill>
                <a:latin typeface="Plus Jakarta Sans"/>
              </a:rPr>
              <a:t>•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6800" y="4238625"/>
            <a:ext cx="4705350" cy="504825"/>
          </a:xfrm>
          <a:prstGeom prst="rect">
            <a:avLst/>
          </a:prstGeom>
          <a:noFill/>
        </p:spPr>
        <p:txBody>
          <a:bodyPr wrap="square" lIns="76200" rIns="0" tIns="0" bIns="0" anchor="t">
            <a:spAutoFit/>
          </a:bodyPr>
          <a:lstStyle/>
          <a:p>
            <a:pPr algn="l">
              <a:lnSpc>
                <a:spcPts val="1912"/>
              </a:lnSpc>
            </a:pPr>
            <a:r>
              <a:rPr b="1" sz="1125" i="0" u="none">
                <a:solidFill>
                  <a:srgbClr val="475569"/>
                </a:solidFill>
                <a:latin typeface="Plus Jakarta Sans"/>
              </a:rPr>
              <a:t>Simple C Idiom:</a:t>
            </a:r>
            <a:r>
              <a:rPr b="0" sz="1125" i="0" u="none">
                <a:solidFill>
                  <a:srgbClr val="475569"/>
                </a:solidFill>
                <a:latin typeface="Plus Jakarta Sans"/>
              </a:rPr>
              <a:t> Flat array structures and stdlib </a:t>
            </a:r>
            <a:r>
              <a:rPr b="0" sz="1125" i="0" u="none">
                <a:solidFill>
                  <a:srgbClr val="475569"/>
                </a:solidFill>
                <a:latin typeface="Plus Jakarta Sans"/>
              </a:rPr>
              <a:t>qsort</a:t>
            </a:r>
            <a:r>
              <a:rPr b="0" sz="1125" i="0" u="none">
                <a:solidFill>
                  <a:srgbClr val="475569"/>
                </a:solidFill>
                <a:latin typeface="Plus Jakarta Sans"/>
              </a:rPr>
              <a:t> keep implementation clean.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15100" y="3409950"/>
            <a:ext cx="489585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975" i="0" u="none">
                <a:solidFill>
                  <a:srgbClr val="CBD5E1"/>
                </a:solidFill>
                <a:latin typeface="Plus Jakarta Sans"/>
              </a:rPr>
              <a:t>1. Cormen, T. H., Leiserson, C. E., Rivest, R. L., &amp; Stein, C. </a:t>
            </a:r>
            <a:r>
              <a:rPr b="0" sz="975" i="1" u="none">
                <a:solidFill>
                  <a:srgbClr val="CBD5E1"/>
                </a:solidFill>
                <a:latin typeface="Plus Jakarta Sans"/>
              </a:rPr>
              <a:t>Introduction to Algorithms (CLRS)</a:t>
            </a:r>
            <a:r>
              <a:rPr b="0" sz="975" i="0" u="none">
                <a:solidFill>
                  <a:srgbClr val="CBD5E1"/>
                </a:solidFill>
                <a:latin typeface="Plus Jakarta Sans"/>
              </a:rPr>
              <a:t>, 4th Ed. Minimum Spanning Trees chapter.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15100" y="3810000"/>
            <a:ext cx="489585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975" i="0" u="none">
                <a:solidFill>
                  <a:srgbClr val="CBD5E1"/>
                </a:solidFill>
                <a:latin typeface="Plus Jakarta Sans"/>
              </a:rPr>
              <a:t>2. Kruskal, J. B. (1956). </a:t>
            </a:r>
            <a:r>
              <a:rPr b="0" sz="975" i="1" u="none">
                <a:solidFill>
                  <a:srgbClr val="CBD5E1"/>
                </a:solidFill>
                <a:latin typeface="Plus Jakarta Sans"/>
              </a:rPr>
              <a:t>On the shortest spanning subtree of a graph and the traveling salesman problem</a:t>
            </a:r>
            <a:r>
              <a:rPr b="0" sz="975" i="0" u="none">
                <a:solidFill>
                  <a:srgbClr val="CBD5E1"/>
                </a:solidFill>
                <a:latin typeface="Plus Jakarta Sans"/>
              </a:rPr>
              <a:t>. Proceedings of the AMS.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15100" y="4210050"/>
            <a:ext cx="489585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975" i="0" u="none">
                <a:solidFill>
                  <a:srgbClr val="CBD5E1"/>
                </a:solidFill>
                <a:latin typeface="Plus Jakarta Sans"/>
              </a:rPr>
              <a:t>3. Notebook Source: "Kruskal's Algorithm in C" - Struct definitions, path compression, and edge processing snippets.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